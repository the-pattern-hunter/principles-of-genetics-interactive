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can be used across multiple lectures. Each module is self-contained.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module takes approximately 15-20 minutes to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why genetic mapping matters. Give examples relevant to students' interests.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this foundational work still underpins modern genetics.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terms clearly before diving into concepts. Use board to illustrate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connection between biological reality and mathematical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genetics to students' lived experience and local biodiversity.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everyday examples before genetics: lightning strikes per year, typos per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dwell on formula. Show visualization instead using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actual visualization from materials. Let students see the shape changing.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bag-switching analogy here. Have students physically demonstrate with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analogy works even for 9th graders. Start here before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asymptotic curve visualization. This is a key 'aha!'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sets up the need for three-point crosses in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two-point cross comparison visualization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three-point gives much more information than two two-point crosses.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eight_gamete_classes.png visualization. Walk through each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through concrete example using Labeo rohita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time to work this out before showing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practice drawing maps from RF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real biology is more complex than pure Poisson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through calculation with real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calculate interference from given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coc_vs_distance.png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mapping_functions_comparison.png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practical implications for research and breeding.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local fisheries and aquaculture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local environmental issues drive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badges if projector connected to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what works from classroom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 assessments with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adoption and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main concepts. Students should remember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full contact information for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Genetic Mapping: From Poisson Distribution to Interference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A Comprehensive Teaching Resource</a:t>
            </a:r>
          </a:p>
          <a:p/>
          <a:p>
            <a:r>
              <a:t>Developed at Kuchinda College, Sambalpur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About This Teaching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📚 Comprehensive coverage of genetic mapping concepts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Modular design - use sections independently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👥 Multiple difficulty levels (BSc to research)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🌍 Features regional examples (Western Odisha)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💻 Linked to interactive Jupyter notebooks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🆓 Completely open access (CC BY 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Modules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Module 1: Introduction to Genetic Mapping (Slides 4-10)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Module 2: Poisson Distribution &amp; Crossovers (Slides 11-18)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Module 3: The 50% Recombination Limit (Slides 19-23)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Module 4: Three-Point Crosses (Slides 24-29)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Module 5: Interference &amp; COC (Slides 30-36)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Module 6: Practical Applications (Slides 37-40)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600"/>
                </a:solidFill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Introduction to Genetic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Genetic Mapping?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🧬 Determining the relative positions of genes on chromosomes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📏 Measuring distances between genetic markers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🔬 Based on frequency of recombination during meiosis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Essential for: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Understanding genome organization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QTL mapping for traits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Marker-assisted breeding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Disease gene identification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Historical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📅 1913: Thomas Hunt Morgan &amp; Alfred Sturtevant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🪰 First genetic map created using Drosophila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💡 Revolutionary insight: genes are arranged linearly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Distance correlates with recombination frequency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🏆 Led to modern genomics and QTL mapping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🇮🇳 Today: Applied to Indian crops, fish, and livestock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🔸 Linkage: Genes on the same chromosome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🔸 Recombination: Exchange of genetic material during meiosis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🔸 Recombinant gametes: New gene combinations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🔸 Parental gametes: Original gene combinations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🔸 Map unit (centiMorgan): 1% recombination = 1 cM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🔸 Morgan: 100 cM (named after T.H. Morgan)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From Observation to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🔍 Biology: Crossovers during meiosis are observable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Statistics: These events follow predictable patterns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📐 Mathematics: Poisson distribution describes the pattern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Result: We can predict genetic outcomes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💡 This is the Pattern Hunters approach: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Concrete observation → Pattern recognition → Mathematical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Regional Examples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🐟 Labeo rohita (Rohu) - Mahanadi River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Indian major carp, economically important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15+ years of microsatellite research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🪱 Earthworms - Talcher coalfield region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Heavy metal tolerance genetics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Biomonitoring applications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✨ Benefits: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Increases student engagement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Shows research from our region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Demonstrates universal principles apply locally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600"/>
                </a:solidFill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Poisson Distribution &amp; Crossovers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the Poisson Distribution?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A probability distribution for rare, random events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🎲 Describes: "How many times will X happen?"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Requirements: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Events are rare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Events are independent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Events occur with constant probability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🧬 Perfect for crossovers!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Crossovers are rare (don't happen everywhere)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Each potential site independent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Constant probability per unit length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Poisson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P(k crossovers) = (e^(-μ) × μ^k) / k!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k = number of crossovers (0, 1, 2, 3...)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μ = average number of crossovers (map distance in Morgans)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e = 2.718... (mathematical constant)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k! = k factorial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Don't memorize! Focus on understanding: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μ controls the shape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Larger μ → distribution spreads 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Visualizing the Poisson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For short distances (μ = 0.2):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Most likely: 0 crossovers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Very rare: 2+ crossovers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For medium distances (μ = 1.0):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Peak around 1 crossover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Spread includes 0-4 crossovers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For long distances (μ = 2.0):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Wide spread: 0-6 crossovers common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Many possibilities!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👉 Interactive demo: Open poisson_crossovers.png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Critical Insight: Odd vs 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🔴 Odd crossovers (1, 3, 5...) → RECOMBINANT gametes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🔵 Even crossovers (0, 2, 4...) → PARENTAL gametes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Why?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0 crossovers: no change (parental)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1 crossover: genes switched (recombinant)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2 crossovers: switched back! (parental)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3 crossovers: switched again (recombinant)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This odd/even pattern is KEY to understanding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the 50% recombination limit!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Bag-Switching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👜 You start with a RED bag, friend has BLUE bag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🚶 Walking down a path, randomly switch bags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Switches | Your Bag | Pattern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---------|----------|--------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0        | RED      | Original (parental)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1        | BLUE     | Switched (recombinant)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2        | RED      | Back to original (parental)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3        | BLUE     | Switched again (recombinant)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On a very long path: 50% you end with BLUE,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50% with RED - never more than 50%!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600"/>
                </a:solidFill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50% Recombination Limit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RF Never Exceeds 50%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🔢 As genes get farther apart (μ increases):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More crossovers possible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Distribution spreads out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But odd and even balance!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Mathematical proof: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RF = (1 - e^(-2μ)) / 2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As μ → ∞, RF → 0.5 (never exceeds!)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Biological meaning: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Very distant genes on same chromosome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behave like genes on different chromosomes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Two Causes of 50% Recombination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Cause 1: Genes far apart on SAME chromosome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Multiple crossovers (Poisson)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Approaches 50% asymptotically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Can calculate actual map distance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Cause 2: Genes on DIFFERENT chromosomes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Independent assortment (Mendel's 2nd Law)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Exactly 50% always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No linkage to calculate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⚠️ Problem: Can't distinguish these with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two-point cross alone!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Problem with Two-Point Crosses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🧪 Cross AaBb × aabb (testcross)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Observe 50% recombinant offspring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Question: Are genes A and B...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a) Far apart on same chromosome? OR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b) On different chromosomes?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🤷 Cannot tell from this data alone!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💡 Solution: THREE-POINT CROSS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Test both genes against a third gene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Pattern reveals true relationship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600"/>
                </a:solidFill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Three-Point Crosses &amp; Gene Ordering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Three Points?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Three genes simultaneously tested: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AaBbCc × aabbcc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Advantages: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Determine if all three are linked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Find the linear ORDER of genes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Calculate accurate map distances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Detect interference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🔍 The key: Look at ALL recombinant classes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Some are single crossovers (SCO)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Some are double crossovers (DCO)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Eight Gamete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Parental types (most common):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ABC and abc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Single crossover Region I: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AbC and aBc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Single crossover Region II: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ABc and abC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Double crossover (rarest):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Abc and aBC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💡 The rarest class (DCO) identifies the middle gene!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Gene Ordering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Step 1: Calculate RF for all three pairs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RF(AB), RF(AC), RF(BC)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Step 2: Find the MAXIMUM RF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These two genes are on the ENDS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Step 3: Middle gene is the remaining one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Step 4: Verify additivity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RF(outer) ≈ RF(outer-middle) + RF(middle-outer)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Example: If RF(AC) is largest,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then order is A - B - C (or C - B - A)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Practice Problem: Labeo rohita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Given three microsatellite markers: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RF(A-B) = 12%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RF(A-C) = 28%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RF(B-C) = 16%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Question: What is the gene order?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1. Maximum RF = 28% (A-C)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2. A and C are on ends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3. B is in middle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4. Order: A - B - C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5. Verify: 12 + 16 = 28 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Drawing Genetic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Linear representation with distances: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A ----------- B ----------- C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12 cM         16 cM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Linear arrangement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Distances in centiMorgans (cM)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1 cM = 1% recombination (approximately)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Total map length: 28 cM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Show gene_map_labeo.png for professional example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600"/>
                </a:solidFill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Interference &amp; Coefficient of Coincidence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Interference?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🧬 Definition: One crossover reduces the probability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of another crossover occurring nearby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Why it happens: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Crossover machinery changes chromosome structure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Creates 'zone of interference'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Temporarily stabilizes nearby regions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Result: Double crossovers (DCO) are RARER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than expected from Poisson alone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This is biological reality modifying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mathematical idealization!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Coefficient of Coincidence (COC)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Formula: COC = Observed DCO / Expected DCO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Expected DCO = RF₁ × RF₂ × Total offspring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COC = 1.0 → No interference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COC &lt; 1.0 → Positive interference (typical)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COC = 0.5 → 50% reduction in DCOs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COC = 0   → Complete interference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🔬 Most organisms: COC = 0.3 to 0.7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(moderate to strong interference)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Calculating Interference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Formula: Interference (I) = 1 - COC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Region I RF = 18%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Region II RF = 12%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Total offspring = 1000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Observed DCO = 12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Expected DCO = 0.18 × 0.12 × 1000 = 21.6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COC = 12 / 21.6 = 0.56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Interference = 1 - 0.56 = 0.44 (44%)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Meaning: One crossover reduces nearby crossover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probability by 44%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Interference Varies by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📉 General pattern: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Close regions (5-10 cM):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Strong interference (I = 0.6-0.8)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Medium regions (15-25 cM):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Moderate interference (I = 0.3-0.5)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Distant regions (&gt;40 cM):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Weak interference (I = 0.1-0.2)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💡 As distance increases, crossovers become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more independent (approaching Poisson)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Mapping Functions: Haldane vs Kosambi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Haldane (1919): Assumes NO interference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d = -½ ln(1 - 2r)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Simple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Overestimates distance at high RF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Kosambi (1944): Accounts for interference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d = ¼ ln[(1 + 2r)/(1 - 2r)]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More accurate for most organisms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Default choice for fish, plants, animals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When to use which?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Yeast, fungi → Haldane (low interference)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Most eukaryotes → Kosambi (moderate interference)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Practical Impact of Interference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Without accounting for interference: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❌ Map distances inaccurate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❌ Gene order might be wrong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❌ QTL mapping unreliable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With proper interference correction: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✅ Accurate genetic maps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✅ Better QTL resolution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✅ Improved marker-assisted selection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Example: At 35% RF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Haldane: ~58 cM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Kosambi: ~44 cM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Difference: 14 cM (significant!)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600"/>
                </a:solidFill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Practical Applications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Applications to Labeo rohita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🐟 Indian Major Carp (Rohu)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Economically important aquaculture species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Mahanadi River populations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🧬 Genetic mapping applications: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Growth rate QTL identification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Disease resistance markers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Stress tolerance loci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Population structure analysis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💡 Use Kosambi function (moderate interference in fish)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15+ years microsatellite data available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for teaching examples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Earthworm Genomics: Mining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🪱 Metaphire posthuma - common earthworm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Talcher coalfield region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Heavy metal contamination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🔬 Research applications: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Heavy metal tolerance mapping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Adaptive allele identification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Biomonitoring marker development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Population adaptation studies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🌍 Environmental genomics: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Novel field in India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Combines ecology + genetics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Practical applications for pollution monitoring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Using the Interactive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📚 Complete package available on GitHub: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github.com/The-Pattern-Hunter/principles-of-genetics-interactive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One-click launch: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Binder: Full Jupyter environment (no login)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Google Colab: Individual notebooks (Google account)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📁 Contents: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2 Interactive Jupyter notebooks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10 High-resolution visualizations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3 Reference guides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Practice problems with solutions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🆓 Completely free and open (CC BY 4.0)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Teaching Tips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Start concrete, move to abstract: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1. Bag-switching analogy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2. Visual distributions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3. Biological context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4. Mathematical formalization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💻 Interactive sessions: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Students modify parameters, observe results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Learn by doing, not passive watching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🌍 Use regional examples: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Increases engagement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Shows relevance of genetic principles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📝 Assessment: Conceptual + computational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Can explain WHY, not just calculate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Assessment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📝 Knowledge level: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Define terms (linkage, recombination, etc.)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Explain 50% RF limit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🧮 Skills level: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Calculate RF from data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Order genes using three-point cross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Draw genetic maps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Calculate COC and interference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🔬 Application level: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Design three-point cross experiments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Choose appropriate mapping function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Analyze real research data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Troubleshoot unexpected results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🔜 Near-term additions: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Video tutorials (Odia, Hindi, English)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Additional practice problems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More organism examples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📚 Pattern Hunters series expansion: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Ecological distributions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Population dynamics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Enzyme kinetics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All using regional examples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🤝 Collaboration opportunities: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Adopt for your courses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Contribute new examples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Translate to regional languages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Share feedback for improvement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1️⃣ Poisson distribution explains crossover patterns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2️⃣ 50% RF limit emerges from odd/even balance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3️⃣ Three-point crosses resolve linkage ambiguity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4️⃣ Interference adjusts pure Poisson expectations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5️⃣ Kosambi function for most organisms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6️⃣ Interactive materials democratize quality education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Distribution-first pedagogy builds deep understanding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Resources &amp;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📚 Materials: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GitHub: github.com/The-Pattern-Hunter/principles-of-genetics-interactive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DOI: [Will be added after Zenodo archiving]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👥 Authors: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Susama Kar - susama.kar@kuchindacollege.ac.in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Dr. Alok Patel - alok.patel@kuchindacollege.ac.in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🏛️ Institution: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Department of Zoology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Kuchinda College, Sambalpur University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Odisha, India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📄 License: CC BY 4.0 (Free to use with attribution)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Questions?</a:t>
            </a:r>
          </a:p>
          <a:p/>
          <a:p/>
          <a:p>
            <a:r>
              <a:t>Materials available at:</a:t>
            </a:r>
          </a:p>
          <a:p>
            <a:r>
              <a:t>github.com/The-Pattern-Hunter/principles-of-genetics-interactive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